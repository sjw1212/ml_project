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356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</a:t>
            </a:r>
            <a:r>
              <a:rPr lang="en-US" sz="4000" b="1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전술적 자산배분 모델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2194560" cy="1828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314553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v8.6.41_label_fixed  /  프로젝트 최종 발표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547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  ·  Feature 설계  ·  모델 훈련  ·  성능 평가  ·  시각화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2026.06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80467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804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정제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152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  ·  이상치 보존  ·  비율 기반 정규화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481328"/>
            <a:ext cx="832104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627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특징 변수 선택 및 생성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87552" y="1975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·  변수 선택 기준  ·  제거 변수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304288"/>
            <a:ext cx="832104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45059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4505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훈련 및 튜닝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" y="27980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구조  ·  라벨 설계  ·  하이퍼파라미터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3127248"/>
            <a:ext cx="832104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27355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2735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성능 평가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87552" y="36210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지표  ·  투자 성과  ·  OOS 결과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950208"/>
            <a:ext cx="8321040" cy="9144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475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409651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 및 인사이트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44439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비중  ·  위험 신호  ·  최신 인사이트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데이터 정제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768096"/>
            <a:ext cx="2743200" cy="336499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877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 처리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24688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필수 가격 컬럼 없는 행 → 학습 제외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1700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Volume = 0 → 비정상 거래 결측 처리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1031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inf / -inf → NaN 변환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rolling 초기 결측치 학습 전 제거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feature 결측 → median imputation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4169664"/>
            <a:ext cx="2743200" cy="56692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84048" y="4206240"/>
            <a:ext cx="25237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대체 지양: 수익률에서 0은 실제 의미를 가질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768096"/>
            <a:ext cx="2743200" cy="336499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310128" y="877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이상치 처리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10128" y="1207008"/>
            <a:ext cx="24688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310128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급등락 데이터 제거하지 않음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1700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변동성 지표 음수 미발생 보정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21031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예측 확률 0~1 범위 클리핑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vol-scaled threshold 범위 제한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극단 수익률 → 위험 정보로 활용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72968" y="4169664"/>
            <a:ext cx="2743200" cy="56692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282696" y="4206240"/>
            <a:ext cx="25237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급등락 = 고변동·하락 강화 신호 학습 대상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71616" y="768096"/>
            <a:ext cx="2743200" cy="336499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08776" y="877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&amp; 스케일링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08776" y="1207008"/>
            <a:ext cx="246888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208776" y="12984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StandardScaler / MinMaxScaler 미사용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08776" y="17007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트리 기반 모델 → 스케일 불필요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08776" y="21031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수익률·비율·rank 기반 feature 사용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08776" y="25054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return_5d ~ return_120d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08776" y="29077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price_ma_gap, volume_ratio, drawdown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71616" y="4169664"/>
            <a:ext cx="2743200" cy="56692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181344" y="4206240"/>
            <a:ext cx="25237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NVDA·SPY 가격 수준 달라도 비율로 비교 가능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특징(Feature) 변수 선택 및 생성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76809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Feature 목록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60704"/>
          <a:ext cx="5212080" cy="2889504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변수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수익률 / 모멘텀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return_5d, 10d, 20d, 60d, 120d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이동평균 / 추세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price_ma_20_gap, ma_gap_20_60, ma200_slope_60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가격 위치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price_position_20, close_to_20d_high, drawdown_20/60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거래량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volume_ratio_20, volume_zscore_20, down_volume_ratio_20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변동성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realized_vol_20/60, atr_pct_20, downside_vol_20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 지표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ulcer_index_20, vol_of_vol_20, bb_width_20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69280" y="768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생성 Feature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060704"/>
            <a:ext cx="3200400" cy="512064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97296" y="1097280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이동평균 이격도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97296" y="1335024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장단기 평균 대비 현재 가격 위치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0" y="1636776"/>
            <a:ext cx="3200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797296" y="1673352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변동성 지표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97296" y="191109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수익률 표준편차로 위험 측정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2212848"/>
            <a:ext cx="3200400" cy="512064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5797296" y="2249424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지표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97296" y="2487168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고점 대비 하락 깊이 측정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669280" y="2788920"/>
            <a:ext cx="32004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5797296" y="2825496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Down-volume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97296" y="3063240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하락일 거래량 비중 → 매도 압력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0" y="3364992"/>
            <a:ext cx="3200400" cy="512064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5797296" y="3401568"/>
            <a:ext cx="2944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Vol-scaled Label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797296" y="3639312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종목별 변동성 반영한 라벨 기준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4078224"/>
            <a:ext cx="8595360" cy="4572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02336" y="4114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제거 변수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371600" y="41148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return_3d · price_ma_5_gap · breakdown_20 · failed_rebound_20 · squeeze_on · weak_rebound_volume  —  단기 노이즈, OOS 기여 없음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모델 훈련 및 하이퍼파라미터 튜닝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768096"/>
            <a:ext cx="2615184" cy="230428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02336" y="877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02336" y="115214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고변동 예측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" y="1499616"/>
            <a:ext cx="2359152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02336" y="1591056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prob_high_vol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prob_normal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prob_overall_risk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89504" y="164592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DDDD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768096"/>
            <a:ext cx="2615184" cy="230428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236976" y="877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36976" y="115214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강화 분류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36976" y="1499616"/>
            <a:ext cx="2359152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236976" y="1591056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UP_STRENGTHENING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DOWN_STRENGTHENING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NO_STRENGTH_SIGNAL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24144" y="1645920"/>
            <a:ext cx="21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DDDD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0" y="768096"/>
            <a:ext cx="2615184" cy="2304288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071616" y="8778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71616" y="1152144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비중 산출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71616" y="1499616"/>
            <a:ext cx="2359152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071616" y="1591056"/>
            <a:ext cx="2359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· 채권(IEF)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현금(BIL)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2004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라벨 설계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2048256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74320" y="34747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UP_STRENGTHENING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05456" y="3474720"/>
            <a:ext cx="2048256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505456" y="34747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DOWN_STRENGTHENING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3474720"/>
            <a:ext cx="2048256" cy="34747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736592" y="3474720"/>
            <a:ext cx="20482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NO_STRENGTH_SIGNAL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38953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0.30 × current_horizon_vol   ( 종목별 변동성 반영 기준 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28816" y="3200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파라미터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28816" y="3474720"/>
          <a:ext cx="2359152" cy="1316736"/>
        </p:xfrm>
        <a:graphic>
          <a:graphicData uri="http://schemas.openxmlformats.org/drawingml/2006/table">
            <a:tbl>
              <a:tblPr/>
              <a:tblGrid>
                <a:gridCol w="1078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reg_lambda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reg_alpha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모델 성능 평가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274320" y="76809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4241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성능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298448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74320" y="16459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93392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74320" y="19933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40864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74320" y="234086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274320" y="26883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37360" y="104241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성과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37360" y="1298448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737360" y="1298448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37360" y="1645920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1737360" y="164592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37360" y="1993392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737360" y="199339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737360" y="2340864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1737360" y="2340864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37360" y="2688336"/>
            <a:ext cx="1316736" cy="27432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737360" y="26883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45536" y="768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기간 성과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45536" y="1042416"/>
          <a:ext cx="2926080" cy="2267712"/>
        </p:xfrm>
        <a:graphic>
          <a:graphicData uri="http://schemas.openxmlformats.org/drawingml/2006/table">
            <a:tbl>
              <a:tblPr/>
              <a:tblGrid>
                <a:gridCol w="585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2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-25.31%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-18.21%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-35.28%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-57.10%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6236208" y="7680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성과 (2024~)</a:t>
            </a:r>
            <a:endParaRPr lang="en-US" sz="1000" dirty="0"/>
          </a:p>
        </p:txBody>
      </p:sp>
      <p:graphicFrame>
        <p:nvGraphicFramePr>
          <p:cNvPr id="3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1042416"/>
          <a:ext cx="2651760" cy="2267712"/>
        </p:xfrm>
        <a:graphic>
          <a:graphicData uri="http://schemas.openxmlformats.org/drawingml/2006/table">
            <a:tbl>
              <a:tblPr/>
              <a:tblGrid>
                <a:gridCol w="62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-10.34%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-31.50%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-27.95%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3" name="Shape 29"/>
          <p:cNvSpPr/>
          <p:nvPr/>
        </p:nvSpPr>
        <p:spPr>
          <a:xfrm>
            <a:off x="274320" y="3438144"/>
            <a:ext cx="8595360" cy="80467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0"/>
          <p:cNvSpPr/>
          <p:nvPr/>
        </p:nvSpPr>
        <p:spPr>
          <a:xfrm>
            <a:off x="402336" y="34747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02336" y="3712464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QQQ·SPY: 안정적 방어 성능  ·  SOXX·NVDA: 높은 CAGR (변동성·MDD 수반)  ·  AAPL: OOS 구간 상대적 약세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전 종목 Buy &amp; Hold 대비 MDD 개선  ·  위험 국면 감지 후 주식 비중 축소가 알파 핵심 원천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8595360" y="4846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4630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모델 시각화 및 인사이트 도출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832104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768096"/>
            <a:ext cx="274320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02336" y="859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비중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" y="1152144"/>
            <a:ext cx="2487168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02336" y="124358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82% / 채권 11.7% / 현금 6.3%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768096"/>
            <a:ext cx="274320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00984" y="859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신호 카드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00984" y="1152144"/>
            <a:ext cx="2487168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00984" y="124358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WATCH · RISK_OFF · EXTREME_RISK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768096"/>
            <a:ext cx="274320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99632" y="8595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수익률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1152144"/>
            <a:ext cx="2487168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199632" y="124358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 vs Buy &amp; Hold vs 60/40 Benchmark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956816"/>
            <a:ext cx="274320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02336" y="20482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Chart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2336" y="2340864"/>
            <a:ext cx="2487168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02336" y="243230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낙폭 구간 시각화 / 손실 방어 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72968" y="1956816"/>
            <a:ext cx="274320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300984" y="20482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수익률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00984" y="2340864"/>
            <a:ext cx="2487168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300984" y="243230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연도별 Bar chart / 시장 국면별 강약점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1956816"/>
            <a:ext cx="2743200" cy="1097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199632" y="204825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Heatmap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99632" y="2340864"/>
            <a:ext cx="2487168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199632" y="2432304"/>
            <a:ext cx="24871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수익률 히트맵 / 계절성·취약 구간 파악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200400"/>
            <a:ext cx="8595360" cy="237744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74320" y="320040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최신 인사이트  ( 기준일: 2026-05-07 )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438144"/>
          <a:ext cx="8595360" cy="138988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주식 비중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인사이트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안정적 참여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안정적 참여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DOWN_STRENGTH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하락 강화 주의 (prob_high_vol 37.5%)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SOXX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DOWN_STRENGTH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하락 신호 있으나 전체 위험 정상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고수익·고변동 참여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종합 결론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68096"/>
            <a:ext cx="80467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8046720" cy="676656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76656" y="987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데이터 정제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76656" y="1261872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결측치·inf 제거 + median imputation  ·  급등락은 위험 정보로 보존  ·  비율 기반 feature로 스케일 중립화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1682496"/>
            <a:ext cx="8046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76656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특징 변수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76656" y="2029968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수익률·추세·거래량·변동성·drawdown 기반 생성  ·  종목별 변동성 반영 volatility-scaled label 적용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8046720" cy="676656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76656" y="25237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모델 훈련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" y="2798064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 XGBoost (고변동 → 방향강화 → 비중산출)  ·  5D·10D·20D horizon  ·  Recency Weighting 적용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18688"/>
            <a:ext cx="8046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76656" y="3291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성능 평가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" y="3566160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전체 CAGR 16.85% / OOS 21.24%  ·  Buy &amp; Hold 대비 전 종목 MDD 개선  ·  위험 국면 방어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86784"/>
            <a:ext cx="8046720" cy="676656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6656" y="4059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 시각화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" y="4334256"/>
            <a:ext cx="7699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비중·위험 신호·수익률·Drawdown 시각화  ·  AAPL 하락 강화 주의 / QQQ·SPY 안정 참여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280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모델: v8.6.41_label_fixed  |  전체 안정성 · OOS 성과 · MDD 방어 균형 최적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1019</Words>
  <Application>Microsoft Office PowerPoint</Application>
  <PresentationFormat>화면 슬라이드 쇼(16:9)</PresentationFormat>
  <Paragraphs>257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손 주원</cp:lastModifiedBy>
  <cp:revision>2</cp:revision>
  <dcterms:created xsi:type="dcterms:W3CDTF">2026-06-08T01:00:11Z</dcterms:created>
  <dcterms:modified xsi:type="dcterms:W3CDTF">2026-06-08T01:05:38Z</dcterms:modified>
</cp:coreProperties>
</file>