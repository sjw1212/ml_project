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88552" y="-1828800"/>
            <a:ext cx="5486400" cy="54864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43032" y="5212080"/>
            <a:ext cx="2743200" cy="2743200"/>
          </a:xfrm>
          <a:prstGeom prst="ellipse">
            <a:avLst/>
          </a:prstGeom>
          <a:solidFill>
            <a:srgbClr val="C9A24C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MACHINE LEARNING · MIDTERM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 프로젝트 중간 발표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자산배분을 위한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국면 예측 모델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731520" y="4937760"/>
            <a:ext cx="548640" cy="36576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D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손주원 · 딱코먼 · 아웅뚜따툰 · 흐어누에사이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758952"/>
            <a:ext cx="320040" cy="36576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 설계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73152" cy="109728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시계열 특유의 결측치·휴장일·이상치 문제를 해결하기 위한 정제 프로세스를 설계합니다. 미래 정보의 누설을 방지하기 위해 시계열 순서를 엄격히 유지하여 분석의 신뢰성을 확보합니다.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657600" cy="2560320"/>
          </a:xfrm>
          <a:prstGeom prst="roundRect">
            <a:avLst>
              <a:gd name="adj" fmla="val 4286"/>
            </a:avLst>
          </a:prstGeom>
          <a:solidFill>
            <a:srgbClr val="F7F4ED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365760" cy="274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/ 변동성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 및 중기 수익률과 변동성 지표 생성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3383280"/>
            <a:ext cx="3657600" cy="2560320"/>
          </a:xfrm>
          <a:prstGeom prst="roundRect">
            <a:avLst>
              <a:gd name="adj" fmla="val 4286"/>
            </a:avLst>
          </a:prstGeom>
          <a:solidFill>
            <a:srgbClr val="F7F4ED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17720" y="4160520"/>
            <a:ext cx="365760" cy="274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지표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이동평균 괴리율, 거래량 변화율 등 가격 피처 생성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3383280"/>
            <a:ext cx="3657600" cy="2560320"/>
          </a:xfrm>
          <a:prstGeom prst="roundRect">
            <a:avLst>
              <a:gd name="adj" fmla="val 4286"/>
            </a:avLst>
          </a:prstGeom>
          <a:solidFill>
            <a:srgbClr val="F7F4ED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412480" y="4160520"/>
            <a:ext cx="365760" cy="274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보조 지표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흐름 보완을 위한 지수 및 금리 지표 검토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10 · 시장 국면 예측 모델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1672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758952"/>
            <a:ext cx="320040" cy="36576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탐색적 데이터 분석 (EDA)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시각화와 통계 분석을 통해 데이터 분포·특성·관계를 종합적으로 파악합니다.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51760"/>
            <a:ext cx="91440" cy="169164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분포 시각화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히스토그램과 박스플롯으로 수익률·거래량·변동성의 분포와 이상치를 확인.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6517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651760"/>
            <a:ext cx="91440" cy="169164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시계열 특성 분석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6118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추이, 누적 수익률 등을 통해 시장 흐름과 위험 구간을 파악.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526280"/>
            <a:ext cx="91440" cy="169164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709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029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분석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54864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상관관계 히트맵과 산점도를 활용하여 피처 간 관계와 중복성을 분석.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45262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4526280"/>
            <a:ext cx="91440" cy="1691640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709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5029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 검토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92240" y="54864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국면별 라벨 비율과 피처 차이를 비교하여 학습 가능한 라벨 구조인지 검토.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10 · 시장 국면 예측 모델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91672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758952"/>
            <a:ext cx="320040" cy="36576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BASELINE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베이스라인 모델 설정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754880" cy="4206240"/>
          </a:xfrm>
          <a:prstGeom prst="roundRect">
            <a:avLst>
              <a:gd name="adj" fmla="val 3261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결정 트리 모델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457200" cy="36576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6324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6DD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 가능한 단일 결정 트리를 기준 모델로 설정하여 피처의 분기 기준을 시각적으로 확인하고, 이후 고급 모델과의 비교 기반을 마련합니다.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965960"/>
            <a:ext cx="6035040" cy="1325880"/>
          </a:xfrm>
          <a:prstGeom prst="roundRect">
            <a:avLst>
              <a:gd name="adj" fmla="val 6897"/>
            </a:avLst>
          </a:prstGeom>
          <a:solidFill>
            <a:srgbClr val="F7F4ED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148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깊이 제한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606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max_depth를 2~3 수준으로 제한하여 과적합 방지 및 단순 구조 유지.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3401568"/>
            <a:ext cx="6035040" cy="1325880"/>
          </a:xfrm>
          <a:prstGeom prst="roundRect">
            <a:avLst>
              <a:gd name="adj" fmla="val 6897"/>
            </a:avLst>
          </a:prstGeom>
          <a:solidFill>
            <a:srgbClr val="F7F4ED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58444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피처 입력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404164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수익률·변동성·거래량 변화율·이동평균 괴리율 등을 입력 변수로 사용.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4837176"/>
            <a:ext cx="6035040" cy="1325880"/>
          </a:xfrm>
          <a:prstGeom prst="roundRect">
            <a:avLst>
              <a:gd name="adj" fmla="val 6897"/>
            </a:avLst>
          </a:prstGeom>
          <a:solidFill>
            <a:srgbClr val="F7F4ED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502005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성능 비교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547725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Accuracy, F1-score, ROC-AUC를 기준으로 고급 모델과 성능을 비교.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10 · 시장 국면 예측 모델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91672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758952"/>
            <a:ext cx="320040" cy="36576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ALGORITHM CANDIDATES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알고리즘 후보 선택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데이터의 복잡한 비선형 관계와 국면 전환 신호를 효과적으로 학습하기 위해 Random Forest와 XGBoost를 주력 알고리즘 후보로 선정.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486400" cy="3474720"/>
          </a:xfrm>
          <a:prstGeom prst="roundRect">
            <a:avLst>
              <a:gd name="adj" fmla="val 3947"/>
            </a:avLst>
          </a:prstGeom>
          <a:solidFill>
            <a:srgbClr val="F7F4ED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Decision Tree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68680" y="4023360"/>
            <a:ext cx="365760" cy="3657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062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결정 트리를 기준 모델로 사용하여 Random Forest와 XGBoost의 성능 개선 여부를 정량적으로 비교합니다.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743200"/>
            <a:ext cx="5486400" cy="3474720"/>
          </a:xfrm>
          <a:prstGeom prst="roundRect">
            <a:avLst>
              <a:gd name="adj" fmla="val 3947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MAIN CANDIDATES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3291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Random Forest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83680" y="3794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583680" y="4434840"/>
            <a:ext cx="365760" cy="36576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617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D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피처 간의 상호작용과 비선형 관계를 반영하여 정교한 시장 국면 분류를 수행합니다.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10 · 시장 국면 예측 모델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91672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758952"/>
            <a:ext cx="320040" cy="36576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 구성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2697480" cy="109728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D9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환경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320040" cy="274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3.12+ · VS Code · Jupyter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분석·실험·모델 학습 과정을 통합적으로 수행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0712" y="219456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0712" y="2194560"/>
            <a:ext cx="2697480" cy="109728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D9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685032" y="3200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처리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85032" y="3749040"/>
            <a:ext cx="320040" cy="274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5032" y="38862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Pandas · NumPy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85032" y="46634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시계열 데이터 정제 및 피처 연산 처리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2784" y="219456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2194560"/>
            <a:ext cx="2697480" cy="109728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D9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547104" y="3200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모델링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47104" y="3749040"/>
            <a:ext cx="320040" cy="274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38862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Scikit-learn · XGBoost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47104" y="46634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베이스라인 및 앙상블 모델 구축, 지표 계산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34856" y="219456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34856" y="2194560"/>
            <a:ext cx="2697480" cy="109728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09176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D9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409176" y="3200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 · 관리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409176" y="3749040"/>
            <a:ext cx="320040" cy="274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09176" y="38862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Matplotlib · Seaborn · GitHub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09176" y="46634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EDA 시각화 및 코드 버전 관리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10 · 시장 국면 예측 모델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91672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758952"/>
            <a:ext cx="320040" cy="36576"/>
          </a:xfrm>
          <a:prstGeom prst="rect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진행 계획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97280" y="2377440"/>
            <a:ext cx="36576" cy="365760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331720"/>
            <a:ext cx="320040" cy="3200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2404872"/>
            <a:ext cx="173736" cy="173736"/>
          </a:xfrm>
          <a:prstGeom prst="ellipse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5146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데이터셋 확정 및 피처 선별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017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전처리 기준을 확정하고 EDA 결과를 바탕으로 모델 성능에 기여도가 높은 주요 피처를 선별하여 최종 학습 데이터셋을 구성.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657600"/>
            <a:ext cx="320040" cy="3200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" y="3730752"/>
            <a:ext cx="173736" cy="173736"/>
          </a:xfrm>
          <a:prstGeom prst="ellipse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520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840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비교 실험 수행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343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베이스라인 모델(Decision Tree)과 고급 모델(Random Forest, XGBoost) 간의 성능 비교 실험을 체계적으로 수행.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" y="4983480"/>
            <a:ext cx="320040" cy="3200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" y="5056632"/>
            <a:ext cx="173736" cy="173736"/>
          </a:xfrm>
          <a:prstGeom prst="ellipse">
            <a:avLst/>
          </a:prstGeom>
          <a:solidFill>
            <a:srgbClr val="C9A24C"/>
          </a:solidFill>
          <a:ln w="12700">
            <a:solidFill>
              <a:srgbClr val="C9A2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4846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5166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다각적 성과 평가 및 검증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56692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 성능 지표뿐만 아니라 CAGR, MDD 등 투자 성과 지표를 병행 평가하여 모델의 실효성을 최종 검증.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10 · 시장 국면 예측 모델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91672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2026-05-28T01:23:23Z</dcterms:created>
  <dcterms:modified xsi:type="dcterms:W3CDTF">2026-05-28T01:23:23Z</dcterms:modified>
</cp:coreProperties>
</file>