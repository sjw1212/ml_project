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3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65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0010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머신러닝 프로젝트 중간 발표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2834891"/>
            <a:ext cx="6429375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350" b="1" kern="0" spc="-3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자산배분을 위한
시장 국면 예측 모델</a:t>
            </a:r>
            <a:endParaRPr lang="en-US" sz="435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B138F92-6DB0-F84E-CE16-3DF8DC6FF870}"/>
              </a:ext>
            </a:extLst>
          </p:cNvPr>
          <p:cNvSpPr/>
          <p:nvPr/>
        </p:nvSpPr>
        <p:spPr>
          <a:xfrm>
            <a:off x="571500" y="4155034"/>
            <a:ext cx="2464308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altLang="ko-KR" sz="1000" dirty="0">
                <a:solidFill>
                  <a:srgbClr val="666666"/>
                </a:solidFill>
                <a:latin typeface="Inter" pitchFamily="34" charset="0"/>
              </a:rPr>
              <a:t>Team 10</a:t>
            </a:r>
          </a:p>
          <a:p>
            <a:pPr marL="0" indent="0" algn="l">
              <a:buNone/>
            </a:pPr>
            <a:r>
              <a:rPr lang="ko-KR" altLang="en-US" sz="1000" dirty="0">
                <a:solidFill>
                  <a:srgbClr val="666666"/>
                </a:solidFill>
                <a:latin typeface="Inter" pitchFamily="34" charset="0"/>
              </a:rPr>
              <a:t>손주원</a:t>
            </a:r>
            <a:r>
              <a:rPr lang="en-US" altLang="ko-KR" sz="1000" dirty="0">
                <a:solidFill>
                  <a:srgbClr val="666666"/>
                </a:solidFill>
                <a:latin typeface="Inter" pitchFamily="34" charset="0"/>
              </a:rPr>
              <a:t>, </a:t>
            </a:r>
            <a:r>
              <a:rPr lang="ko-KR" altLang="en-US" sz="1000" dirty="0" err="1">
                <a:solidFill>
                  <a:srgbClr val="666666"/>
                </a:solidFill>
                <a:latin typeface="Inter" pitchFamily="34" charset="0"/>
              </a:rPr>
              <a:t>딱코먼</a:t>
            </a:r>
            <a:r>
              <a:rPr lang="en-US" altLang="ko-KR" sz="1000" dirty="0">
                <a:solidFill>
                  <a:srgbClr val="666666"/>
                </a:solidFill>
                <a:latin typeface="Inter" pitchFamily="34" charset="0"/>
              </a:rPr>
              <a:t>, </a:t>
            </a:r>
            <a:r>
              <a:rPr lang="ko-KR" altLang="en-US" sz="1000" dirty="0" err="1">
                <a:solidFill>
                  <a:srgbClr val="666666"/>
                </a:solidFill>
                <a:latin typeface="Inter" pitchFamily="34" charset="0"/>
              </a:rPr>
              <a:t>아웅뚜따툰</a:t>
            </a:r>
            <a:r>
              <a:rPr lang="en-US" altLang="ko-KR" sz="1000" dirty="0">
                <a:solidFill>
                  <a:srgbClr val="666666"/>
                </a:solidFill>
                <a:latin typeface="Inter" pitchFamily="34" charset="0"/>
              </a:rPr>
              <a:t>, </a:t>
            </a:r>
            <a:r>
              <a:rPr lang="ko-KR" altLang="en-US" sz="1000" dirty="0" err="1">
                <a:solidFill>
                  <a:srgbClr val="666666"/>
                </a:solidFill>
                <a:latin typeface="Inter" pitchFamily="34" charset="0"/>
              </a:rPr>
              <a:t>흐어누에사이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835819"/>
            <a:ext cx="800100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데이터 전처리 설계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1882378"/>
            <a:ext cx="3876142" cy="1210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금융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시계열 특유의 결측치, 휴장일, 이상치 문제를 해결하기 위한 정제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프로세스를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설계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특히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미래 정보를 현재 시점의 모델 학습에 잘못 사용하는 문제를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방지하기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위해 시계열 순서를 엄격히 유지하며 전처리를 진행하여 분석의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신뢰성을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확보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786313" y="1882378"/>
            <a:ext cx="37861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수익률/변동성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86313" y="2132409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단기 및 중기 수익률과 변동성 지표 생성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86313" y="2553891"/>
            <a:ext cx="37861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기술적 지표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86313" y="2803922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이동평균 괴리율, 거래량 변화율 등 가격 피처 생성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86313" y="3225403"/>
            <a:ext cx="37861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시장 보조 지표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86313" y="3475434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시장 흐름 보완을 위한 지수 및 금리 지표 검토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835819"/>
            <a:ext cx="800100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탐색적 데이터 분석 (EDA)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1596628"/>
            <a:ext cx="80010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시각화와 통계 분석을 통해 데이터 분포, 특성, 관계를 파악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" y="2400300"/>
            <a:ext cx="3643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분포 시각화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718197"/>
            <a:ext cx="3643313" cy="358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히스토그램과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박스플롯으로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수익률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거래량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변동성의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분포와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이상치를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확인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29188" y="2400300"/>
            <a:ext cx="3643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시계열 특성 분석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29188" y="2718197"/>
            <a:ext cx="3643313" cy="171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가격 추이,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누적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수익률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등을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통해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시장 흐름과 위험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구간을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파악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3558257"/>
            <a:ext cx="3643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관계 분석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3876154"/>
            <a:ext cx="3643313" cy="171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상관관계 히트맵과 산점도를 활용하여 피처 간 관계와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중복성을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분석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929188" y="3558257"/>
            <a:ext cx="3643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라벨 검토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29188" y="3876154"/>
            <a:ext cx="3643313" cy="358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국면별 라벨 비율과 피처 차이를 비교하여 학습 가능한 라벨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구조인지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검토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835819"/>
            <a:ext cx="800100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베이스라인 모델 설정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1739503"/>
            <a:ext cx="7143750" cy="471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복잡한 모델을 적용하기 전에, 해석 가능한 단일 결정 트리 모델을 기준 모델로 설정합니다. 피처의 분기 기준을 시각적으로 확인할 수 있어 초기 비교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모델로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적합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" y="2716746"/>
            <a:ext cx="36433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단일 결정 트리 모델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2986422"/>
            <a:ext cx="3802990" cy="1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최대 깊이를 제한한 Decision Tree를 사용하여 초기 성능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기준을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설정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29188" y="2716746"/>
            <a:ext cx="36433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최대 깊이 제한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29187" y="2986422"/>
            <a:ext cx="3929520" cy="1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max_depth를 2~3 수준으로 제한하여 과적합을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방지하고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구조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유지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3657935"/>
            <a:ext cx="36433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시장 피처 입력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" y="3927611"/>
            <a:ext cx="3802990" cy="1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수익률, 변동성, 거래량 변화율, 이동평균 괴리율 등을 입력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변수로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사</a:t>
            </a:r>
            <a:r>
              <a:rPr lang="ko-KR" alt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용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929188" y="3657935"/>
            <a:ext cx="36433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모델 성능 비교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29188" y="3927611"/>
            <a:ext cx="3722522" cy="1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Accuracy, F1-score, ROC-AUC를 기준으로 이후 고급 모델과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성능을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비교</a:t>
            </a: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835819"/>
            <a:ext cx="800100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알고리즘 후보 선택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1739503"/>
            <a:ext cx="7143750" cy="471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시장 데이터의 복잡한 비선형 관계와 국면 전환 신호를 효과적으로 학습하기 위해 Random Forest와 XGBoost를 주력 알고리즘 후보로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선정하여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검토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" y="2716746"/>
            <a:ext cx="36433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Decision Tree Baseline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3009640"/>
            <a:ext cx="36433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단일 결정 트리를 기준 모델로 사용하여 Random Forest와 XGBoost의 성능 개선 여부를 비교합니다.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29188" y="2716746"/>
            <a:ext cx="36433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Random Forest / XGBoost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29188" y="3009640"/>
            <a:ext cx="36433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피처 간의 상호작용과 비선형 관계를 반영하여 정교한 시장 국면 분류를 수행합니다.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835819"/>
            <a:ext cx="800100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기술 스택 구성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2025253"/>
            <a:ext cx="3643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개발 환경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343150"/>
            <a:ext cx="364331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Python 3.12+, VS Code, </a:t>
            </a:r>
            <a:r>
              <a:rPr lang="en-US" sz="1000" b="1" dirty="0" err="1">
                <a:solidFill>
                  <a:srgbClr val="333333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Jupyter</a:t>
            </a:r>
            <a:r>
              <a:rPr lang="en-US" sz="1000" b="1" dirty="0">
                <a:solidFill>
                  <a:srgbClr val="333333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Notebook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2573536"/>
            <a:ext cx="3643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분석, 실험, 모델 학습 과정을 통합적으로 수행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29188" y="2025253"/>
            <a:ext cx="3643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데이터 처리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29188" y="2343150"/>
            <a:ext cx="3643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Pandas, NumPy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29188" y="2573536"/>
            <a:ext cx="3643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금융 시계열 데이터 정제 및 피처 연산 처리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" y="3195042"/>
            <a:ext cx="3643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모델링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1500" y="3512939"/>
            <a:ext cx="3643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Scikit-learn, XGBoost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" y="3743325"/>
            <a:ext cx="3643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베이스라인 및 앙상블 모델 구축, 지표 계산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929188" y="3195042"/>
            <a:ext cx="3643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시각화 및 관리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29188" y="3512939"/>
            <a:ext cx="3643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Matplotlib, Seaborn, GitHub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29188" y="3743325"/>
            <a:ext cx="3643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시각화 및 코드 버전 관리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835819"/>
            <a:ext cx="800100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향후 진행 계획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1796653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0E0E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1796653"/>
            <a:ext cx="5715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데이터셋 확정 및 피처 선별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5874" y="2123480"/>
            <a:ext cx="7286626" cy="1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전처리 기준을 확정하고 EDA 결과를 바탕으로 모델 성능에 기여도가 높은 주요 피처를 선별하여 최종 학습 </a:t>
            </a:r>
            <a:r>
              <a:rPr lang="en-US" sz="10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데이터셋을</a:t>
            </a: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구성</a:t>
            </a: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666405"/>
            <a:ext cx="4554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0E0E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1312664" y="2666405"/>
            <a:ext cx="5715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모델 비교 실험 수행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12663" y="2993231"/>
            <a:ext cx="6558491" cy="1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베이스라인 모델(단일 결정 트리)과 고급 모델(Random Forest, XGBoost) 간의 성능 비교 </a:t>
            </a:r>
            <a:r>
              <a:rPr lang="en-US" sz="10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실험을</a:t>
            </a: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체계적으로</a:t>
            </a: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수행</a:t>
            </a: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3536156"/>
            <a:ext cx="4625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0E0E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1319808" y="3536156"/>
            <a:ext cx="5715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다각적 성과 평가 및 검증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19808" y="3862983"/>
            <a:ext cx="6741542" cy="1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 분류 성능 지표뿐만 아니라 CAGR, MDD 등 투자 성과 지표를 병행 평가하여 모델의 실효성을 </a:t>
            </a:r>
            <a:r>
              <a:rPr lang="en-US" sz="10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</a:t>
            </a: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검증</a:t>
            </a: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478</Words>
  <Application>Microsoft Office PowerPoint</Application>
  <PresentationFormat>화면 슬라이드 쇼(16:9)</PresentationFormat>
  <Paragraphs>75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Inter</vt:lpstr>
      <vt:lpstr>Inter 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손 주원</cp:lastModifiedBy>
  <cp:revision>7</cp:revision>
  <dcterms:created xsi:type="dcterms:W3CDTF">2026-05-27T14:31:27Z</dcterms:created>
  <dcterms:modified xsi:type="dcterms:W3CDTF">2026-05-27T23:14:33Z</dcterms:modified>
</cp:coreProperties>
</file>